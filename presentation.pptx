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4" r:id="rId9"/>
    <p:sldId id="276" r:id="rId10"/>
    <p:sldId id="27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1536" y="78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siqqniaz@outlook.com" userId="2da4fb8e82a4fc0a" providerId="LiveId" clId="{EBDF0391-2CD8-493C-A863-5CEE21F3599F}"/>
    <pc:docChg chg="modSld">
      <pc:chgData name="wasiqqniaz@outlook.com" userId="2da4fb8e82a4fc0a" providerId="LiveId" clId="{EBDF0391-2CD8-493C-A863-5CEE21F3599F}" dt="2025-12-24T14:10:13.086" v="3" actId="20577"/>
      <pc:docMkLst>
        <pc:docMk/>
      </pc:docMkLst>
      <pc:sldChg chg="modSp mod">
        <pc:chgData name="wasiqqniaz@outlook.com" userId="2da4fb8e82a4fc0a" providerId="LiveId" clId="{EBDF0391-2CD8-493C-A863-5CEE21F3599F}" dt="2025-12-24T14:10:13.086" v="3" actId="20577"/>
        <pc:sldMkLst>
          <pc:docMk/>
          <pc:sldMk cId="0" sldId="256"/>
        </pc:sldMkLst>
        <pc:spChg chg="mod">
          <ac:chgData name="wasiqqniaz@outlook.com" userId="2da4fb8e82a4fc0a" providerId="LiveId" clId="{EBDF0391-2CD8-493C-A863-5CEE21F3599F}" dt="2025-12-24T14:10:13.086" v="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wasiqqniaz@outlook.com" userId="2da4fb8e82a4fc0a" providerId="LiveId" clId="{EBDF0391-2CD8-493C-A863-5CEE21F3599F}" dt="2025-12-24T14:09:43.324" v="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12/24/2025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543800" cy="2593975"/>
          </a:xfrm>
        </p:spPr>
        <p:txBody>
          <a:bodyPr/>
          <a:lstStyle/>
          <a:p>
            <a:r>
              <a:rPr lang="en-US" sz="4000" b="1" dirty="0">
                <a:effectLst/>
              </a:rPr>
              <a:t>Adult Income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419600"/>
            <a:ext cx="6461760" cy="1066800"/>
          </a:xfrm>
        </p:spPr>
        <p:txBody>
          <a:bodyPr>
            <a:noAutofit/>
          </a:bodyPr>
          <a:lstStyle/>
          <a:p>
            <a:r>
              <a:rPr lang="en-US" b="1" dirty="0"/>
              <a:t>Prepared by:</a:t>
            </a:r>
          </a:p>
          <a:p>
            <a:r>
              <a:rPr lang="en-US" b="1" dirty="0"/>
              <a:t>M. Wasiq Niaz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r>
              <a:rPr lang="en-US" sz="2800" b="1" dirty="0"/>
              <a:t>Work Flow</a:t>
            </a:r>
            <a:br>
              <a:rPr lang="en-US" sz="2800" b="1" dirty="0"/>
            </a:br>
            <a:br>
              <a:rPr lang="en-US" sz="2800" dirty="0"/>
            </a:br>
            <a:r>
              <a:rPr lang="en-US" sz="2800" dirty="0"/>
              <a:t>Phase 1: Data Loading and Checking</a:t>
            </a:r>
            <a:br>
              <a:rPr lang="en-US" sz="2800" dirty="0"/>
            </a:br>
            <a:r>
              <a:rPr lang="en-US" sz="2800" dirty="0"/>
              <a:t>Phase 2: Initial Investigation</a:t>
            </a:r>
            <a:br>
              <a:rPr lang="en-US" sz="2800" dirty="0"/>
            </a:br>
            <a:r>
              <a:rPr lang="en-US" sz="2800" dirty="0"/>
              <a:t>Phase 3: Preprocessing and Encoding</a:t>
            </a:r>
            <a:br>
              <a:rPr lang="en-US" sz="2800" dirty="0"/>
            </a:br>
            <a:r>
              <a:rPr lang="en-US" sz="2800" dirty="0"/>
              <a:t>Phase 4: Split Training and Testing data</a:t>
            </a:r>
            <a:br>
              <a:rPr lang="en-US" sz="2800" dirty="0"/>
            </a:br>
            <a:r>
              <a:rPr lang="en-US" sz="2800" dirty="0"/>
              <a:t>Phase 5: Data Normalization and One-Hot Encoding</a:t>
            </a:r>
            <a:br>
              <a:rPr lang="en-US" sz="2800" dirty="0"/>
            </a:br>
            <a:r>
              <a:rPr lang="en-US" sz="2800" dirty="0"/>
              <a:t>Phase 6: Model Selection and </a:t>
            </a:r>
            <a:r>
              <a:rPr lang="en-US" sz="2800" dirty="0">
                <a:sym typeface="+mn-ea"/>
              </a:rPr>
              <a:t>Hyper Parameter Tuning </a:t>
            </a:r>
            <a:br>
              <a:rPr lang="en-US" sz="2800" dirty="0"/>
            </a:br>
            <a:r>
              <a:rPr lang="en-US" sz="2800" dirty="0"/>
              <a:t>Phase 7: Setup for New Input Data Prediction</a:t>
            </a:r>
            <a:br>
              <a:rPr lang="en-US" sz="2800" dirty="0"/>
            </a:br>
            <a:r>
              <a:rPr lang="en-US" sz="2800" dirty="0"/>
              <a:t>Phase 8: Save the Trained Model and Supporting Files</a:t>
            </a:r>
            <a:br>
              <a:rPr lang="en-US" sz="2800" dirty="0"/>
            </a:br>
            <a:r>
              <a:rPr lang="en-US" sz="2800" dirty="0"/>
              <a:t>Phase 9: Save the Prediction Script for Deployment</a:t>
            </a:r>
            <a:br>
              <a:rPr lang="en-US" sz="2800" dirty="0"/>
            </a:br>
            <a:endParaRPr lang="en-US" sz="280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r>
              <a:rPr lang="en-US" sz="2400" b="1" dirty="0"/>
              <a:t>Data Overview</a:t>
            </a:r>
            <a:br>
              <a:rPr lang="en-US" sz="2400" b="1" dirty="0"/>
            </a:br>
            <a:br>
              <a:rPr lang="en-US" sz="2400" dirty="0"/>
            </a:br>
            <a:r>
              <a:rPr lang="en-US" sz="2400" dirty="0"/>
              <a:t>Age – Person’s age</a:t>
            </a:r>
            <a:br>
              <a:rPr lang="en-US" sz="2400" dirty="0"/>
            </a:br>
            <a:r>
              <a:rPr lang="en-US" sz="2400" dirty="0" err="1"/>
              <a:t>Workclass</a:t>
            </a:r>
            <a:r>
              <a:rPr lang="en-US" sz="2400" dirty="0"/>
              <a:t> – Employment type</a:t>
            </a:r>
            <a:br>
              <a:rPr lang="en-US" sz="2400" dirty="0"/>
            </a:br>
            <a:r>
              <a:rPr lang="en-US" sz="2400" dirty="0" err="1"/>
              <a:t>Fnlwgt</a:t>
            </a:r>
            <a:r>
              <a:rPr lang="en-US" sz="2400" dirty="0"/>
              <a:t> – Population weight</a:t>
            </a:r>
            <a:br>
              <a:rPr lang="en-US" sz="2400" dirty="0"/>
            </a:br>
            <a:r>
              <a:rPr lang="en-US" sz="2400" dirty="0"/>
              <a:t>Education – Education level</a:t>
            </a:r>
            <a:br>
              <a:rPr lang="en-US" sz="2400" dirty="0"/>
            </a:br>
            <a:r>
              <a:rPr lang="en-US" sz="2400" dirty="0" err="1"/>
              <a:t>Education.num</a:t>
            </a:r>
            <a:r>
              <a:rPr lang="en-US" sz="2400" dirty="0"/>
              <a:t> – Years of education</a:t>
            </a:r>
            <a:br>
              <a:rPr lang="en-US" sz="2400" dirty="0"/>
            </a:br>
            <a:r>
              <a:rPr lang="en-US" sz="2400" dirty="0" err="1"/>
              <a:t>Marital.status</a:t>
            </a:r>
            <a:r>
              <a:rPr lang="en-US" sz="2400" dirty="0"/>
              <a:t> – Marital state</a:t>
            </a:r>
            <a:br>
              <a:rPr lang="en-US" sz="2400" dirty="0"/>
            </a:br>
            <a:r>
              <a:rPr lang="en-US" sz="2400" dirty="0"/>
              <a:t>Occupation – Job type</a:t>
            </a:r>
            <a:br>
              <a:rPr lang="en-US" sz="2400" dirty="0"/>
            </a:br>
            <a:r>
              <a:rPr lang="en-US" sz="2400" dirty="0"/>
              <a:t>Relationship – Family role</a:t>
            </a:r>
            <a:br>
              <a:rPr lang="en-US" sz="2400" dirty="0"/>
            </a:br>
            <a:r>
              <a:rPr lang="en-US" sz="2400" dirty="0"/>
              <a:t>Race – Ethnic group</a:t>
            </a:r>
            <a:br>
              <a:rPr lang="en-US" sz="2400" dirty="0"/>
            </a:br>
            <a:r>
              <a:rPr lang="en-US" sz="2400" dirty="0"/>
              <a:t>Sex – Gender</a:t>
            </a:r>
            <a:br>
              <a:rPr lang="en-US" sz="2400" dirty="0"/>
            </a:br>
            <a:r>
              <a:rPr lang="en-US" sz="2400" dirty="0" err="1"/>
              <a:t>Capital.gain</a:t>
            </a:r>
            <a:r>
              <a:rPr lang="en-US" sz="2400" dirty="0"/>
              <a:t> – Investment profit</a:t>
            </a:r>
            <a:br>
              <a:rPr lang="en-US" sz="2400" dirty="0"/>
            </a:br>
            <a:r>
              <a:rPr lang="en-US" sz="2400" dirty="0" err="1"/>
              <a:t>Capital.loss</a:t>
            </a:r>
            <a:r>
              <a:rPr lang="en-US" sz="2400" dirty="0"/>
              <a:t> – Investment loss</a:t>
            </a:r>
            <a:br>
              <a:rPr lang="en-US" sz="2400" dirty="0"/>
            </a:br>
            <a:r>
              <a:rPr lang="en-US" sz="2400" dirty="0" err="1"/>
              <a:t>Hours.per.week</a:t>
            </a:r>
            <a:r>
              <a:rPr lang="en-US" sz="2400" dirty="0"/>
              <a:t> – Weekly work hours</a:t>
            </a:r>
            <a:br>
              <a:rPr lang="en-US" sz="2400" dirty="0"/>
            </a:br>
            <a:r>
              <a:rPr lang="en-US" sz="2400" dirty="0" err="1"/>
              <a:t>Native.country</a:t>
            </a:r>
            <a:r>
              <a:rPr lang="en-US" sz="2400" dirty="0"/>
              <a:t> – Country of origin</a:t>
            </a:r>
            <a:br>
              <a:rPr lang="en-US" sz="2400" dirty="0"/>
            </a:br>
            <a:r>
              <a:rPr lang="en-US" sz="2400" dirty="0"/>
              <a:t>Income – Target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380885" y="5181600"/>
            <a:ext cx="76961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unemployed = ['without-pay', 'never-worked']</a:t>
            </a:r>
          </a:p>
          <a:p>
            <a:r>
              <a:rPr lang="en-US" altLang="en-US" b="1" dirty="0"/>
              <a:t>employed = ['Private', 'Self-emp-not-inc', 'Local-gov', 'State-gov','Federal-gov']</a:t>
            </a:r>
          </a:p>
          <a:p>
            <a:r>
              <a:rPr lang="en-US" altLang="en-US" b="1" dirty="0"/>
              <a:t>self_employed = ['Self-emp-inc']</a:t>
            </a:r>
          </a:p>
          <a:p>
            <a:r>
              <a:rPr lang="en-US" altLang="en-US" b="1" dirty="0"/>
              <a:t>else unknown values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4800"/>
            <a:ext cx="7938770" cy="4418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71055" y="5181600"/>
            <a:ext cx="76961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Married = ['Married-civ-spouse', 'Married-AF-spouse']:</a:t>
            </a:r>
          </a:p>
          <a:p>
            <a:r>
              <a:rPr lang="en-US" altLang="en-US" b="1" dirty="0">
                <a:sym typeface="+mn-ea"/>
              </a:rPr>
              <a:t>Never-married/single</a:t>
            </a:r>
            <a:r>
              <a:rPr lang="en-US" altLang="en-US" b="1" dirty="0"/>
              <a:t> = ['Never-married', 'Separated']:</a:t>
            </a:r>
          </a:p>
          <a:p>
            <a:r>
              <a:rPr lang="en-US" altLang="en-US" b="1" dirty="0">
                <a:sym typeface="+mn-ea"/>
              </a:rPr>
              <a:t>Previously-married = </a:t>
            </a:r>
            <a:r>
              <a:rPr lang="en-US" altLang="en-US" b="1" dirty="0"/>
              <a:t>['Divorced', 'Widowed', 'Married-spouse-absent']</a:t>
            </a:r>
          </a:p>
          <a:p>
            <a:r>
              <a:rPr lang="en-US" altLang="en-US" b="1" dirty="0"/>
              <a:t>Else unknown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304800"/>
            <a:ext cx="7696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33705" y="4572000"/>
            <a:ext cx="77336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white_collar = ['Exec-managerial', 'Prof-specialty', 'Adm-clerical', 'Sales', 'Tech-support']</a:t>
            </a:r>
          </a:p>
          <a:p>
            <a:r>
              <a:rPr lang="en-US" altLang="en-US" b="1" dirty="0"/>
              <a:t>blue_collar  = ['Craft-repair', 'Machine-op-inspct', 'Transport-moving', 'Handlers-cleaners', 'Farming-fishing']</a:t>
            </a:r>
          </a:p>
          <a:p>
            <a:r>
              <a:rPr lang="en-US" altLang="en-US" b="1" dirty="0"/>
              <a:t>service      = ['Other-service', 'Protective-serv', 'Priv-house-serv', 'Armed-Forces']</a:t>
            </a:r>
          </a:p>
          <a:p>
            <a:r>
              <a:rPr lang="en-US" altLang="en-US" b="1" dirty="0"/>
              <a:t>Else unknown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304800"/>
            <a:ext cx="786701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43346" y="5233719"/>
            <a:ext cx="76961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Spouse = ['Husband', 'Wife']:</a:t>
            </a:r>
          </a:p>
          <a:p>
            <a:r>
              <a:rPr lang="en-US" altLang="en-US" b="1" dirty="0">
                <a:sym typeface="+mn-ea"/>
              </a:rPr>
              <a:t>Single/Unmarried = </a:t>
            </a:r>
            <a:r>
              <a:rPr lang="en-US" altLang="en-US" b="1" dirty="0"/>
              <a:t>['Unmarried', 'Not-in-family']:</a:t>
            </a:r>
          </a:p>
          <a:p>
            <a:r>
              <a:rPr lang="en-US" altLang="en-US" b="1" dirty="0">
                <a:sym typeface="+mn-ea"/>
              </a:rPr>
              <a:t>Dependent = </a:t>
            </a:r>
            <a:r>
              <a:rPr lang="en-US" altLang="en-US" b="1" dirty="0"/>
              <a:t>['Own-child', 'Other-relative']:</a:t>
            </a:r>
          </a:p>
          <a:p>
            <a:r>
              <a:rPr lang="en-US" altLang="en-US" b="1" dirty="0"/>
              <a:t>Else unknown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7905750" cy="4838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001000" cy="6477000"/>
          </a:xfrm>
        </p:spPr>
        <p:txBody>
          <a:bodyPr/>
          <a:lstStyle/>
          <a:p>
            <a:br>
              <a:rPr lang="en-US" sz="2000" b="1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43346" y="5233719"/>
            <a:ext cx="76961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/>
              <a:t>White = ['White', 'Asian-Pac-Islander']:</a:t>
            </a:r>
          </a:p>
          <a:p>
            <a:r>
              <a:rPr lang="en-US" altLang="en-US" sz="2000" b="1" dirty="0"/>
              <a:t>Black = ['Black', 'Amer-Indian-Eskimo']:</a:t>
            </a:r>
          </a:p>
          <a:p>
            <a:r>
              <a:rPr lang="en-US" altLang="en-US" sz="2000" b="1" dirty="0"/>
              <a:t>Else Other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7639050" cy="4476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before 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 b="1"/>
              <a:t>Model Evaluation (3-Fold CV - f1_score):</a:t>
            </a:r>
          </a:p>
          <a:p>
            <a:endParaRPr lang="en-US" altLang="en-US" b="1"/>
          </a:p>
          <a:p>
            <a:r>
              <a:rPr lang="en-US" altLang="en-US" b="1"/>
              <a:t>Logistic Regression (no reg)  : f1_score = 0.6341</a:t>
            </a:r>
          </a:p>
          <a:p>
            <a:r>
              <a:rPr lang="en-US" altLang="en-US" b="1"/>
              <a:t>Logistic Regression (L1)      : f1_score = 0.6332</a:t>
            </a:r>
          </a:p>
          <a:p>
            <a:r>
              <a:rPr lang="en-US" altLang="en-US" b="1"/>
              <a:t>Logistic Regression (L2)      : f1_score = 0.6331</a:t>
            </a:r>
          </a:p>
          <a:p>
            <a:r>
              <a:rPr lang="en-US" altLang="en-US" b="1"/>
              <a:t>KNN Classifier                : f1_score = 0.6190</a:t>
            </a:r>
          </a:p>
          <a:p>
            <a:r>
              <a:rPr lang="en-US" altLang="en-US" b="1"/>
              <a:t>Decision Tree                 : f1_score = 0.5507</a:t>
            </a:r>
          </a:p>
          <a:p>
            <a:r>
              <a:rPr lang="en-US" altLang="en-US" b="1"/>
              <a:t>Random Forest                 : f1_score = 0.6048</a:t>
            </a:r>
          </a:p>
          <a:p>
            <a:r>
              <a:rPr lang="en-US" altLang="en-US" b="1"/>
              <a:t>Gradient Boosting             : f1_score = 0.6542</a:t>
            </a:r>
          </a:p>
          <a:p>
            <a:r>
              <a:rPr lang="en-US" altLang="en-US" b="1"/>
              <a:t>AdaBoost                      : f1_score = 0.6322</a:t>
            </a:r>
          </a:p>
          <a:p>
            <a:r>
              <a:rPr lang="en-US" altLang="en-US" b="1"/>
              <a:t>XGBoost                       : f1_score = 0.6243</a:t>
            </a:r>
          </a:p>
          <a:p>
            <a:endParaRPr lang="en-US" altLang="en-US" b="1"/>
          </a:p>
          <a:p>
            <a:r>
              <a:rPr lang="en-US" altLang="en-US" b="1">
                <a:solidFill>
                  <a:srgbClr val="FF0000"/>
                </a:solidFill>
              </a:rPr>
              <a:t>Best Performing Model: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Gradient Boosting with f1_score = 0.6542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after 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 b="1"/>
              <a:t>Model Evaluation (3-Fold CV - f1_score):</a:t>
            </a:r>
          </a:p>
          <a:p>
            <a:endParaRPr lang="en-US" altLang="en-US" b="1"/>
          </a:p>
          <a:p>
            <a:r>
              <a:rPr lang="en-US" altLang="en-US" b="1"/>
              <a:t>Logistic Regression (no reg)  : f1_score = 0.6341</a:t>
            </a:r>
          </a:p>
          <a:p>
            <a:r>
              <a:rPr lang="en-US" altLang="en-US" b="1"/>
              <a:t>Logistic Regression (L1)      : f1_score = 0.6632</a:t>
            </a:r>
          </a:p>
          <a:p>
            <a:r>
              <a:rPr lang="en-US" altLang="en-US" b="1"/>
              <a:t>Logistic Regression (L2)      : f1_score = 0.6633</a:t>
            </a:r>
          </a:p>
          <a:p>
            <a:r>
              <a:rPr lang="en-US" altLang="en-US" b="1"/>
              <a:t>KNN Classifier                : f1_score = 0.6063</a:t>
            </a:r>
          </a:p>
          <a:p>
            <a:r>
              <a:rPr lang="en-US" altLang="en-US" b="1"/>
              <a:t>Decision Tree                 : f1_score = 0.6490</a:t>
            </a:r>
          </a:p>
          <a:p>
            <a:r>
              <a:rPr lang="en-US" altLang="en-US" b="1"/>
              <a:t>Random Forest                 : f1_score = 0.6736</a:t>
            </a:r>
          </a:p>
          <a:p>
            <a:r>
              <a:rPr lang="en-US" altLang="en-US" b="1"/>
              <a:t>Gradient Boosting             : f1_score = 0.6486</a:t>
            </a:r>
          </a:p>
          <a:p>
            <a:r>
              <a:rPr lang="en-US" altLang="en-US" b="1"/>
              <a:t>AdaBoost                      : f1_score = 0.6234</a:t>
            </a:r>
          </a:p>
          <a:p>
            <a:r>
              <a:rPr lang="en-US" altLang="en-US" b="1"/>
              <a:t>XGBoost                       : f1_score = 0.6708</a:t>
            </a:r>
          </a:p>
          <a:p>
            <a:endParaRPr lang="en-US" altLang="en-US" b="1"/>
          </a:p>
          <a:p>
            <a:r>
              <a:rPr lang="en-US" altLang="en-US" b="1">
                <a:solidFill>
                  <a:srgbClr val="FF0000"/>
                </a:solidFill>
              </a:rPr>
              <a:t>Best Performing Model: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Random Forest with f1_score = 0.6736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7543800" cy="3352800"/>
          </a:xfrm>
        </p:spPr>
        <p:txBody>
          <a:bodyPr/>
          <a:lstStyle/>
          <a:p>
            <a:pPr algn="ctr"/>
            <a:r>
              <a:rPr lang="en-US" sz="6000" b="1" dirty="0">
                <a:effectLst/>
              </a:rP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</TotalTime>
  <Words>556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Adjacency</vt:lpstr>
      <vt:lpstr>Adult Income Dataset</vt:lpstr>
      <vt:lpstr>Work Flow  Phase 1: Data Loading and Checking Phase 2: Initial Investigation Phase 3: Preprocessing and Encoding Phase 4: Split Training and Testing data Phase 5: Data Normalization and One-Hot Encoding Phase 6: Model Selection and Hyper Parameter Tuning  Phase 7: Setup for New Input Data Prediction Phase 8: Save the Trained Model and Supporting Files Phase 9: Save the Prediction Script for Deployment </vt:lpstr>
      <vt:lpstr>Data Overview  Age – Person’s age Workclass – Employment type Fnlwgt – Population weight Education – Education level Education.num – Years of education Marital.status – Marital state Occupation – Job type Relationship – Family role Race – Ethnic group Sex – Gender Capital.gain – Investment profit Capital.loss – Investment loss Hours.per.week – Weekly work hours Native.country – Country of origin Income – Target variable</vt:lpstr>
      <vt:lpstr>  </vt:lpstr>
      <vt:lpstr>  </vt:lpstr>
      <vt:lpstr>  </vt:lpstr>
      <vt:lpstr>  </vt:lpstr>
      <vt:lpstr>  </vt:lpstr>
      <vt:lpstr>Model results before hyperparameter tuning</vt:lpstr>
      <vt:lpstr>Model results after hyperparameter tuning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11  Adult Income Dataset</dc:title>
  <dc:creator>HP ELITE FOLIO 9470M</dc:creator>
  <cp:lastModifiedBy>wasiqqniaz@outlook.com</cp:lastModifiedBy>
  <cp:revision>23</cp:revision>
  <dcterms:created xsi:type="dcterms:W3CDTF">2006-08-16T00:00:00Z</dcterms:created>
  <dcterms:modified xsi:type="dcterms:W3CDTF">2025-12-24T14:10:46Z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CEB11ABCFFF5422A9100C1C955EE83EE_12</vt:lpwstr>
  </property>
  <property fmtid="{D5CDD505-2E9C-101B-9397-08002B2CF9AE}" pid="3" name="KSOProductBuildVer">
    <vt:lpwstr>1033-12.2.0.21931</vt:lpwstr>
  </property>
</Properties>
</file>